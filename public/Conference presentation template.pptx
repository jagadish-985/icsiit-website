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61" r:id="rId3"/>
    <p:sldId id="283" r:id="rId4"/>
    <p:sldId id="262" r:id="rId5"/>
    <p:sldId id="288" r:id="rId6"/>
    <p:sldId id="306" r:id="rId7"/>
    <p:sldId id="265" r:id="rId8"/>
    <p:sldId id="266" r:id="rId9"/>
    <p:sldId id="307" r:id="rId10"/>
    <p:sldId id="308" r:id="rId11"/>
    <p:sldId id="282" r:id="rId12"/>
    <p:sldId id="309" r:id="rId13"/>
    <p:sldId id="310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1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9B9D9B-62E3-4186-841E-AB5457FA2CCA}" v="71" dt="2026-04-16T11:12:58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03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47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4763F-BBA8-4A87-977E-0EBC7B155CF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68BD6-F83F-4CC5-A59B-6E71BC276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5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8B528B-B34F-4B88-8010-3B17FC4A462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8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62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856" y="2503488"/>
            <a:ext cx="7772400" cy="954527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6637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8285252" cy="114617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876BD6B-EE0A-40F6-8593-D552FCFF208B}"/>
              </a:ext>
            </a:extLst>
          </p:cNvPr>
          <p:cNvSpPr txBox="1">
            <a:spLocks/>
          </p:cNvSpPr>
          <p:nvPr userDrawn="1"/>
        </p:nvSpPr>
        <p:spPr>
          <a:xfrm>
            <a:off x="10983074" y="6356350"/>
            <a:ext cx="370726" cy="501650"/>
          </a:xfrm>
          <a:prstGeom prst="rect">
            <a:avLst/>
          </a:prstGeom>
          <a:solidFill>
            <a:srgbClr val="9D1D59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D3D21A-7D3D-4DED-9A48-B2ED06BDD9FF}" type="slidenum">
              <a:rPr lang="en-IN" smtClean="0">
                <a:solidFill>
                  <a:schemeClr val="bg1"/>
                </a:solidFill>
              </a:rPr>
              <a:pPr/>
              <a:t>‹#›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33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88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1515"/>
            <a:ext cx="8382441" cy="10695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99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264703" cy="113590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495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6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6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6375-37E4-4626-831E-AA0B25D7674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3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402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839056" y="1501028"/>
            <a:ext cx="10514744" cy="10274"/>
          </a:xfrm>
          <a:prstGeom prst="line">
            <a:avLst/>
          </a:prstGeom>
          <a:ln w="38100">
            <a:solidFill>
              <a:srgbClr val="9D1D5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24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2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m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B3BD5-9F6B-4A8C-8B58-7F8FBE2DDFB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C6375-37E4-4626-831E-AA0B25D7674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29" y="134291"/>
            <a:ext cx="2819084" cy="893615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76BD6B-EE0A-40F6-8593-D552FCFF208B}"/>
              </a:ext>
            </a:extLst>
          </p:cNvPr>
          <p:cNvSpPr txBox="1">
            <a:spLocks/>
          </p:cNvSpPr>
          <p:nvPr userDrawn="1"/>
        </p:nvSpPr>
        <p:spPr>
          <a:xfrm>
            <a:off x="10983074" y="6356350"/>
            <a:ext cx="370726" cy="501650"/>
          </a:xfrm>
          <a:prstGeom prst="rect">
            <a:avLst/>
          </a:prstGeom>
          <a:solidFill>
            <a:srgbClr val="9D1D59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D3D21A-7D3D-4DED-9A48-B2ED06BDD9FF}" type="slidenum">
              <a:rPr lang="en-IN" smtClean="0">
                <a:solidFill>
                  <a:schemeClr val="bg1"/>
                </a:solidFill>
              </a:rPr>
              <a:pPr/>
              <a:t>‹#›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76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91523" y="1964417"/>
            <a:ext cx="9472246" cy="2152556"/>
          </a:xfrm>
        </p:spPr>
        <p:txBody>
          <a:bodyPr anchor="ctr"/>
          <a:lstStyle/>
          <a:p>
            <a:pPr marL="25400" marR="17780">
              <a:lnSpc>
                <a:spcPct val="150000"/>
              </a:lnSpc>
              <a:spcBef>
                <a:spcPts val="95"/>
              </a:spcBef>
            </a:pPr>
            <a:r>
              <a:rPr lang="en-US" sz="2400" b="1" spc="445" dirty="0">
                <a:solidFill>
                  <a:srgbClr val="FFFFFF"/>
                </a:solidFill>
                <a:latin typeface="Calibri"/>
                <a:cs typeface="Calibri"/>
              </a:rPr>
              <a:t>SYNERGY</a:t>
            </a:r>
            <a:r>
              <a:rPr lang="en-US" sz="2400" b="1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250" dirty="0">
                <a:solidFill>
                  <a:srgbClr val="FFFFFF"/>
                </a:solidFill>
                <a:latin typeface="Calibri"/>
                <a:cs typeface="Calibri"/>
              </a:rPr>
              <a:t>2026:</a:t>
            </a:r>
            <a:r>
              <a:rPr lang="en-US" sz="2400" b="1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290" dirty="0">
                <a:solidFill>
                  <a:srgbClr val="FFFFFF"/>
                </a:solidFill>
                <a:latin typeface="Calibri"/>
                <a:cs typeface="Calibri"/>
              </a:rPr>
              <a:t>International</a:t>
            </a:r>
            <a:r>
              <a:rPr lang="en-US" sz="2400" b="1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365" dirty="0">
                <a:solidFill>
                  <a:srgbClr val="FFFFFF"/>
                </a:solidFill>
                <a:latin typeface="Calibri"/>
                <a:cs typeface="Calibri"/>
              </a:rPr>
              <a:t>Conference</a:t>
            </a:r>
            <a:r>
              <a:rPr lang="en-US" sz="2400" b="1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38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lang="en-US" sz="2400" b="1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320" dirty="0">
                <a:solidFill>
                  <a:srgbClr val="FFFFFF"/>
                </a:solidFill>
                <a:latin typeface="Calibri"/>
                <a:cs typeface="Calibri"/>
              </a:rPr>
              <a:t>Smart,</a:t>
            </a:r>
            <a:r>
              <a:rPr lang="en-US" sz="2400" b="1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285" dirty="0">
                <a:solidFill>
                  <a:srgbClr val="FFFFFF"/>
                </a:solidFill>
                <a:latin typeface="Calibri"/>
                <a:cs typeface="Calibri"/>
              </a:rPr>
              <a:t>Intelligent </a:t>
            </a:r>
            <a:r>
              <a:rPr lang="en-US" sz="2400" b="1" spc="40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US" sz="24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315" dirty="0">
                <a:solidFill>
                  <a:srgbClr val="FFFFFF"/>
                </a:solidFill>
                <a:latin typeface="Calibri"/>
                <a:cs typeface="Calibri"/>
              </a:rPr>
              <a:t>Innovative</a:t>
            </a:r>
            <a:r>
              <a:rPr lang="en-US" sz="240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350" dirty="0">
                <a:solidFill>
                  <a:srgbClr val="FFFFFF"/>
                </a:solidFill>
                <a:latin typeface="Calibri"/>
                <a:cs typeface="Calibri"/>
              </a:rPr>
              <a:t>Technologies</a:t>
            </a:r>
            <a:r>
              <a:rPr lang="en-US" sz="2400" dirty="0">
                <a:latin typeface="Calibri"/>
                <a:cs typeface="Calibri"/>
              </a:rPr>
              <a:t/>
            </a:r>
            <a:br>
              <a:rPr lang="en-US" sz="2400" dirty="0">
                <a:latin typeface="Calibri"/>
                <a:cs typeface="Calibri"/>
              </a:rPr>
            </a:br>
            <a:r>
              <a:rPr lang="en-US" sz="2400" b="1" spc="265" dirty="0">
                <a:solidFill>
                  <a:srgbClr val="FFFFFF"/>
                </a:solidFill>
                <a:latin typeface="Calibri"/>
                <a:cs typeface="Calibri"/>
              </a:rPr>
              <a:t>(IC-</a:t>
            </a:r>
            <a:r>
              <a:rPr lang="en-US" sz="2400" b="1" spc="240" dirty="0">
                <a:solidFill>
                  <a:srgbClr val="FFFFFF"/>
                </a:solidFill>
                <a:latin typeface="Calibri"/>
                <a:cs typeface="Calibri"/>
              </a:rPr>
              <a:t>SIIT)</a:t>
            </a:r>
            <a:r>
              <a:rPr lang="en-US" sz="2400" dirty="0">
                <a:latin typeface="Calibri"/>
                <a:cs typeface="Calibri"/>
              </a:rPr>
              <a:t/>
            </a:r>
            <a:br>
              <a:rPr lang="en-US" sz="2400" dirty="0">
                <a:latin typeface="Calibri"/>
                <a:cs typeface="Calibri"/>
              </a:rPr>
            </a:br>
            <a:r>
              <a:rPr lang="en-US" sz="2400" b="1" spc="335" dirty="0">
                <a:solidFill>
                  <a:srgbClr val="FFFFFF"/>
                </a:solidFill>
                <a:latin typeface="Calibri"/>
                <a:cs typeface="Calibri"/>
              </a:rPr>
              <a:t>Three</a:t>
            </a:r>
            <a:r>
              <a:rPr lang="en-US" sz="2400" b="1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375" dirty="0">
                <a:solidFill>
                  <a:srgbClr val="FFFFFF"/>
                </a:solidFill>
                <a:latin typeface="Calibri"/>
                <a:cs typeface="Calibri"/>
              </a:rPr>
              <a:t>days</a:t>
            </a:r>
            <a:r>
              <a:rPr lang="en-US" sz="2400" b="1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290" dirty="0">
                <a:solidFill>
                  <a:srgbClr val="FFFFFF"/>
                </a:solidFill>
                <a:latin typeface="Calibri"/>
                <a:cs typeface="Calibri"/>
              </a:rPr>
              <a:t>International</a:t>
            </a:r>
            <a:r>
              <a:rPr lang="en-US" sz="2400" b="1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b="1" spc="355" dirty="0" smtClean="0">
                <a:solidFill>
                  <a:srgbClr val="FFFFFF"/>
                </a:solidFill>
                <a:latin typeface="Calibri"/>
                <a:cs typeface="Calibri"/>
              </a:rPr>
              <a:t>Conference</a:t>
            </a:r>
            <a:br>
              <a:rPr lang="en-US" sz="2400" b="1" spc="355" dirty="0" smtClean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en-US" sz="2400" b="1" spc="355" dirty="0" smtClean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r>
              <a:rPr lang="en-US" sz="2400" b="1" spc="355" baseline="30000" dirty="0" smtClean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lang="en-US" sz="2400" b="1" spc="355" dirty="0" smtClean="0">
                <a:solidFill>
                  <a:srgbClr val="FFFFFF"/>
                </a:solidFill>
                <a:latin typeface="Calibri"/>
                <a:cs typeface="Calibri"/>
              </a:rPr>
              <a:t> -15</a:t>
            </a:r>
            <a:r>
              <a:rPr lang="en-US" sz="2400" b="1" spc="355" baseline="30000" dirty="0" smtClean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lang="en-US" sz="2400" b="1" spc="355" dirty="0" smtClean="0">
                <a:solidFill>
                  <a:srgbClr val="FFFFFF"/>
                </a:solidFill>
                <a:latin typeface="Calibri"/>
                <a:cs typeface="Calibri"/>
              </a:rPr>
              <a:t> May 2026</a:t>
            </a:r>
            <a:r>
              <a:rPr lang="en-US" altLang="en-US" sz="2800" b="1" dirty="0">
                <a:solidFill>
                  <a:srgbClr val="002060"/>
                </a:solidFill>
              </a:rPr>
              <a:t/>
            </a:r>
            <a:br>
              <a:rPr lang="en-US" altLang="en-US" sz="2800" b="1" dirty="0">
                <a:solidFill>
                  <a:srgbClr val="002060"/>
                </a:solidFill>
              </a:rPr>
            </a:br>
            <a:endParaRPr lang="en-US" altLang="en-US" sz="1800" b="1" dirty="0">
              <a:solidFill>
                <a:schemeClr val="bg1"/>
              </a:solidFill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46735" y="3847433"/>
            <a:ext cx="965981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en-US" altLang="en-US" sz="3200" b="1" dirty="0">
              <a:solidFill>
                <a:srgbClr val="002060"/>
              </a:solidFill>
            </a:endParaRPr>
          </a:p>
          <a:p>
            <a:endParaRPr lang="en-US" altLang="en-US" sz="3200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07868" y="4675853"/>
            <a:ext cx="6658253" cy="157610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 smtClean="0">
                <a:solidFill>
                  <a:schemeClr val="bg1"/>
                </a:solidFill>
              </a:rPr>
              <a:t>Paper ID: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	Presenters:</a:t>
            </a:r>
            <a:r>
              <a:rPr lang="en-US" sz="2000" dirty="0">
                <a:solidFill>
                  <a:schemeClr val="bg1"/>
                </a:solidFill>
              </a:rPr>
              <a:t>			</a:t>
            </a: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9205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8486" y="1706879"/>
            <a:ext cx="10972800" cy="4637817"/>
          </a:xfrm>
        </p:spPr>
        <p:txBody>
          <a:bodyPr>
            <a:normAutofit fontScale="92500" lnSpcReduction="20000"/>
          </a:bodyPr>
          <a:lstStyle/>
          <a:p>
            <a:pPr marL="457200" indent="-457200"/>
            <a:r>
              <a:rPr lang="en-US" altLang="en-US" dirty="0"/>
              <a:t>Title and Aim </a:t>
            </a:r>
          </a:p>
          <a:p>
            <a:pPr marL="457200" indent="-457200"/>
            <a:r>
              <a:rPr lang="en-US" altLang="en-US" sz="2800" dirty="0"/>
              <a:t>Introduction</a:t>
            </a:r>
          </a:p>
          <a:p>
            <a:pPr marL="457200" indent="-457200"/>
            <a:r>
              <a:rPr lang="en-US" altLang="en-US" dirty="0" smtClean="0"/>
              <a:t>Literature Review</a:t>
            </a:r>
          </a:p>
          <a:p>
            <a:pPr marL="457200" indent="-457200"/>
            <a:r>
              <a:rPr lang="en-US" altLang="en-US" dirty="0" smtClean="0"/>
              <a:t>Research Gap</a:t>
            </a:r>
            <a:endParaRPr lang="en-US" altLang="en-US" dirty="0"/>
          </a:p>
          <a:p>
            <a:pPr marL="457200" indent="-457200"/>
            <a:r>
              <a:rPr lang="en-US" altLang="en-US" dirty="0"/>
              <a:t>Objectives</a:t>
            </a:r>
          </a:p>
          <a:p>
            <a:pPr marL="457200" indent="-457200"/>
            <a:r>
              <a:rPr lang="en-US" altLang="en-US" sz="2800" dirty="0" smtClean="0"/>
              <a:t>Methodology </a:t>
            </a:r>
            <a:endParaRPr lang="en-US" altLang="en-US" sz="2800" dirty="0"/>
          </a:p>
          <a:p>
            <a:pPr marL="457200" indent="-457200"/>
            <a:r>
              <a:rPr lang="en-US" altLang="en-US" sz="2800" dirty="0" smtClean="0"/>
              <a:t>Implementation</a:t>
            </a:r>
          </a:p>
          <a:p>
            <a:pPr marL="457200" indent="-457200"/>
            <a:r>
              <a:rPr lang="en-US" altLang="en-US" dirty="0" smtClean="0"/>
              <a:t>Results </a:t>
            </a:r>
            <a:endParaRPr lang="en-US" altLang="en-US" sz="2800" dirty="0"/>
          </a:p>
          <a:p>
            <a:pPr marL="457200" indent="-457200"/>
            <a:r>
              <a:rPr lang="en-US" altLang="en-US" sz="2800" dirty="0" smtClean="0"/>
              <a:t>References</a:t>
            </a:r>
          </a:p>
          <a:p>
            <a:pPr marL="457200" indent="-457200"/>
            <a:r>
              <a:rPr lang="en-US" altLang="en-US" dirty="0" smtClean="0"/>
              <a:t>Future work</a:t>
            </a:r>
          </a:p>
          <a:p>
            <a:pPr marL="457200" indent="-457200"/>
            <a:r>
              <a:rPr lang="en-US" altLang="en-US" sz="2800" dirty="0" smtClean="0"/>
              <a:t>Conclusion</a:t>
            </a:r>
            <a:endParaRPr lang="en-US" alt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F08126-119F-7AE1-106D-3B6202E3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8878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6D65C-16BF-2C7D-86FF-98C57976C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Title and 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560F4-E57E-B1E0-8628-13264350E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Title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2500" dirty="0"/>
              <a:t/>
            </a:r>
            <a:br>
              <a:rPr lang="en-IN" sz="2500" dirty="0"/>
            </a:br>
            <a:endParaRPr lang="en-IN" sz="2500" dirty="0"/>
          </a:p>
          <a:p>
            <a:pPr marL="0" indent="0">
              <a:buNone/>
            </a:pPr>
            <a:r>
              <a:rPr lang="en-IN" b="1" dirty="0" smtClean="0">
                <a:solidFill>
                  <a:srgbClr val="FF0000"/>
                </a:solidFill>
              </a:rPr>
              <a:t>Aim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89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Introduction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878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6694-412E-EB2B-D9EE-1E8666D3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Literature Review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A1B0-D545-E0CE-816F-10ED0DAC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4518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6694-412E-EB2B-D9EE-1E8666D3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Research Gap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A1B0-D545-E0CE-816F-10ED0DAC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15078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3C12BB-3337-4645-01BA-40DF44493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202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</a:rPr>
              <a:t>Objective 1 </a:t>
            </a:r>
            <a:r>
              <a:rPr lang="en-IN" b="1" dirty="0" smtClean="0">
                <a:solidFill>
                  <a:srgbClr val="FF0000"/>
                </a:solidFill>
              </a:rPr>
              <a:t>: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.</a:t>
            </a:r>
            <a:endParaRPr lang="en-US" dirty="0"/>
          </a:p>
          <a:p>
            <a:pPr marL="0" indent="0" algn="just">
              <a:buNone/>
            </a:pPr>
            <a:r>
              <a:rPr lang="en-IN" b="1" dirty="0" smtClean="0">
                <a:solidFill>
                  <a:srgbClr val="FF0000"/>
                </a:solidFill>
              </a:rPr>
              <a:t>Objective n :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806E1C-80E7-C3D2-82A1-8E0E2E82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8285252" cy="11461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15423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4703"/>
            <a:ext cx="10972800" cy="85010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Methodology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34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6694-412E-EB2B-D9EE-1E8666D3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Implementation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A1B0-D545-E0CE-816F-10ED0DAC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0858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6694-412E-EB2B-D9EE-1E8666D3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Results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A1B0-D545-E0CE-816F-10ED0DAC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9310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08454" y="1587500"/>
            <a:ext cx="10972800" cy="5046056"/>
          </a:xfrm>
        </p:spPr>
        <p:txBody>
          <a:bodyPr>
            <a:normAutofit/>
          </a:bodyPr>
          <a:lstStyle/>
          <a:p>
            <a:r>
              <a:rPr lang="en-IN" sz="2400" dirty="0"/>
              <a:t>Chen, Y. </a:t>
            </a:r>
            <a:r>
              <a:rPr lang="en-IN" sz="2400" i="1" dirty="0"/>
              <a:t>et al.</a:t>
            </a:r>
            <a:r>
              <a:rPr lang="en-IN" sz="2400" dirty="0"/>
              <a:t> (2020) ‘Design and development of customized 3D printed forearm splints using 3D scanning and CAD modelling’, </a:t>
            </a:r>
            <a:r>
              <a:rPr lang="en-IN" sz="2400" i="1" dirty="0"/>
              <a:t>Journal of Orthopaedic Research</a:t>
            </a:r>
            <a:r>
              <a:rPr lang="en-IN" sz="2400" dirty="0"/>
              <a:t>, </a:t>
            </a:r>
            <a:r>
              <a:rPr lang="en-IN" sz="2400" b="1" dirty="0"/>
              <a:t>volume(issue)</a:t>
            </a:r>
            <a:r>
              <a:rPr lang="en-IN" sz="2400" dirty="0"/>
              <a:t>.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8A902A-3E00-2EDB-CA27-AE973D68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228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08454" y="1587500"/>
            <a:ext cx="10972800" cy="5046056"/>
          </a:xfrm>
        </p:spPr>
        <p:txBody>
          <a:bodyPr>
            <a:normAutofit/>
          </a:bodyPr>
          <a:lstStyle/>
          <a:p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8A902A-3E00-2EDB-CA27-AE973D68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Future Work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627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08454" y="1587500"/>
            <a:ext cx="10972800" cy="5046056"/>
          </a:xfrm>
        </p:spPr>
        <p:txBody>
          <a:bodyPr>
            <a:normAutofit/>
          </a:bodyPr>
          <a:lstStyle/>
          <a:p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8A902A-3E00-2EDB-CA27-AE973D68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568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42536" y="3095969"/>
            <a:ext cx="8285252" cy="114617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429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5527</TotalTime>
  <Words>121</Words>
  <Application>Microsoft Office PowerPoint</Application>
  <PresentationFormat>Widescreen</PresentationFormat>
  <Paragraphs>37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SYNERGY 2026: International Conference on Smart, Intelligent and Innovative Technologies (IC-SIIT) Three days International Conference 13th -15th May 2026 </vt:lpstr>
      <vt:lpstr>Outline</vt:lpstr>
      <vt:lpstr>Title and Aim</vt:lpstr>
      <vt:lpstr>Introduction</vt:lpstr>
      <vt:lpstr>Literature Review </vt:lpstr>
      <vt:lpstr>Research Gap </vt:lpstr>
      <vt:lpstr>Objectives</vt:lpstr>
      <vt:lpstr>Methodology </vt:lpstr>
      <vt:lpstr>Implementation </vt:lpstr>
      <vt:lpstr>Results </vt:lpstr>
      <vt:lpstr>References</vt:lpstr>
      <vt:lpstr>Future Work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Jyothi</cp:lastModifiedBy>
  <cp:revision>69</cp:revision>
  <dcterms:created xsi:type="dcterms:W3CDTF">2021-10-27T08:40:39Z</dcterms:created>
  <dcterms:modified xsi:type="dcterms:W3CDTF">2026-04-23T10:02:00Z</dcterms:modified>
</cp:coreProperties>
</file>